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5143500" cx="9144000"/>
  <p:notesSz cx="6858000" cy="9144000"/>
  <p:embeddedFontLst>
    <p:embeddedFont>
      <p:font typeface="Montserrat"/>
      <p:regular r:id="rId71"/>
      <p:bold r:id="rId72"/>
      <p:italic r:id="rId73"/>
      <p:boldItalic r:id="rId74"/>
    </p:embeddedFont>
    <p:embeddedFont>
      <p:font typeface="Lato"/>
      <p:regular r:id="rId75"/>
      <p:bold r:id="rId76"/>
      <p:italic r:id="rId77"/>
      <p:boldItalic r:id="rId7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21" Type="http://schemas.openxmlformats.org/officeDocument/2006/relationships/slide" Target="slides/slide16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74" Type="http://schemas.openxmlformats.org/officeDocument/2006/relationships/font" Target="fonts/Montserrat-boldItalic.fntdata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11" Type="http://schemas.openxmlformats.org/officeDocument/2006/relationships/slide" Target="slides/slide6.xml"/><Relationship Id="rId58" Type="http://schemas.openxmlformats.org/officeDocument/2006/relationships/slide" Target="slides/slide53.xml"/><Relationship Id="rId79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30" Type="http://schemas.openxmlformats.org/officeDocument/2006/relationships/slide" Target="slides/slide25.xml"/><Relationship Id="rId77" Type="http://schemas.openxmlformats.org/officeDocument/2006/relationships/font" Target="fonts/Lato-italic.fntdata"/><Relationship Id="rId35" Type="http://schemas.openxmlformats.org/officeDocument/2006/relationships/slide" Target="slides/slide30.xml"/><Relationship Id="rId64" Type="http://schemas.openxmlformats.org/officeDocument/2006/relationships/slide" Target="slides/slide59.xml"/><Relationship Id="rId22" Type="http://schemas.openxmlformats.org/officeDocument/2006/relationships/slide" Target="slides/slide17.xml"/><Relationship Id="rId69" Type="http://schemas.openxmlformats.org/officeDocument/2006/relationships/slide" Target="slides/slide64.xml"/><Relationship Id="rId27" Type="http://schemas.openxmlformats.org/officeDocument/2006/relationships/slide" Target="slides/slide22.xml"/><Relationship Id="rId56" Type="http://schemas.openxmlformats.org/officeDocument/2006/relationships/slide" Target="slides/slide51.xml"/><Relationship Id="rId14" Type="http://schemas.openxmlformats.org/officeDocument/2006/relationships/slide" Target="slides/slide9.xml"/><Relationship Id="rId8" Type="http://schemas.openxmlformats.org/officeDocument/2006/relationships/slide" Target="slides/slide3.xml"/><Relationship Id="rId72" Type="http://schemas.openxmlformats.org/officeDocument/2006/relationships/font" Target="fonts/Montserrat-bold.fntdata"/><Relationship Id="rId51" Type="http://schemas.openxmlformats.org/officeDocument/2006/relationships/slide" Target="slides/slide46.xml"/><Relationship Id="rId80" Type="http://schemas.openxmlformats.org/officeDocument/2006/relationships/customXml" Target="../customXml/item2.xml"/><Relationship Id="rId3" Type="http://schemas.openxmlformats.org/officeDocument/2006/relationships/presProps" Target="presProps.xml"/><Relationship Id="rId46" Type="http://schemas.openxmlformats.org/officeDocument/2006/relationships/slide" Target="slides/slide41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67" Type="http://schemas.openxmlformats.org/officeDocument/2006/relationships/slide" Target="slides/slide62.xml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59" Type="http://schemas.openxmlformats.org/officeDocument/2006/relationships/slide" Target="slides/slide54.xml"/><Relationship Id="rId17" Type="http://schemas.openxmlformats.org/officeDocument/2006/relationships/slide" Target="slides/slide12.xml"/><Relationship Id="rId41" Type="http://schemas.openxmlformats.org/officeDocument/2006/relationships/slide" Target="slides/slide36.xml"/><Relationship Id="rId75" Type="http://schemas.openxmlformats.org/officeDocument/2006/relationships/font" Target="fonts/Lato-regular.fntdata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20" Type="http://schemas.openxmlformats.org/officeDocument/2006/relationships/slide" Target="slides/slide15.xml"/><Relationship Id="rId54" Type="http://schemas.openxmlformats.org/officeDocument/2006/relationships/slide" Target="slides/slide49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49" Type="http://schemas.openxmlformats.org/officeDocument/2006/relationships/slide" Target="slides/slide44.xml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7" Type="http://schemas.openxmlformats.org/officeDocument/2006/relationships/slide" Target="slides/slide52.xml"/><Relationship Id="rId15" Type="http://schemas.openxmlformats.org/officeDocument/2006/relationships/slide" Target="slides/slide10.xml"/><Relationship Id="rId44" Type="http://schemas.openxmlformats.org/officeDocument/2006/relationships/slide" Target="slides/slide39.xml"/><Relationship Id="rId73" Type="http://schemas.openxmlformats.org/officeDocument/2006/relationships/font" Target="fonts/Montserrat-italic.fntdata"/><Relationship Id="rId31" Type="http://schemas.openxmlformats.org/officeDocument/2006/relationships/slide" Target="slides/slide26.xml"/><Relationship Id="rId78" Type="http://schemas.openxmlformats.org/officeDocument/2006/relationships/font" Target="fonts/Lato-boldItalic.fntdata"/><Relationship Id="rId65" Type="http://schemas.openxmlformats.org/officeDocument/2006/relationships/slide" Target="slides/slide60.xml"/><Relationship Id="rId60" Type="http://schemas.openxmlformats.org/officeDocument/2006/relationships/slide" Target="slides/slide55.xml"/><Relationship Id="rId52" Type="http://schemas.openxmlformats.org/officeDocument/2006/relationships/slide" Target="slides/slide47.xml"/><Relationship Id="rId10" Type="http://schemas.openxmlformats.org/officeDocument/2006/relationships/slide" Target="slides/slide5.xml"/><Relationship Id="rId81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39" Type="http://schemas.openxmlformats.org/officeDocument/2006/relationships/slide" Target="slides/slide3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76" Type="http://schemas.openxmlformats.org/officeDocument/2006/relationships/font" Target="fonts/Lato-bold.fntdata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font" Target="fonts/Montserrat-regular.fntdata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24" Type="http://schemas.openxmlformats.org/officeDocument/2006/relationships/slide" Target="slides/slide1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3ae60eec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3ae60eec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3ae60eec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3ae60eec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2f607541e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2f607541e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2f607541e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2f607541e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2f607541e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2f607541e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2f607541e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2f607541e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2f607541e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2f607541e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2f607541e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2f607541e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2f607541e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2f607541e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2f607541e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2f607541e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3ae60eec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3ae60eec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2f607541e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2f607541e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2f607541e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2f607541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2f607541e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e2f607541e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2f607541e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2f607541e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3ae60eec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3ae60eec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2f607541e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e2f607541e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2f607541e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e2f607541e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2f607541e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e2f607541e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3ae60eec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3ae60eec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2f607541e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e2f607541e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2f607541e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e2f607541e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2f607541e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e2f607541e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2f607541e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e2f607541e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2f607541e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2f607541e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2f607541e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2f607541e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3ae60eec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e3ae60eec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2f607541e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e2f607541e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2f607541e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e2f607541e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2f607541e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2f607541e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2f607541e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e2f607541e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2f607541e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e2f607541e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2f607541e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e2f607541e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2f607541e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e2f607541e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2f607541e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e2f607541e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2f607541e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e2f607541e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2f607541e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e2f607541e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2f607541e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e2f607541e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2f607541e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e2f607541e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2f607541e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e2f607541e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2f607541e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e2f607541e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2f607541e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e2f607541e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2f607541e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e2f607541e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2f607541e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e2f607541e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3ae60eec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e3ae60eec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2f607541e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e2f607541e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e2f607541e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e2f607541e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e2f607541e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e2f607541e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2f607541e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e2f607541e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e2f607541e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e2f607541e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e2f607541e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e2f607541e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e3ae60eec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e3ae60eec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e2f607541e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e2f607541e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e2f607541e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e2f607541e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e2f607541e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e2f607541e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e2f607541e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e2f607541e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e2f607541e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e2f607541e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e2f607541e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e2f607541e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e2f607541e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e2f607541e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e2f607541e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e2f607541e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2f607541e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e2f607541e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e2f607541e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e2f607541e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e2f607541e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e2f607541e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e2f607541e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e2f607541e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ws-30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AGENDA is to …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338450" y="647925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TOTAL RECALL</a:t>
            </a:r>
            <a:endParaRPr/>
          </a:p>
        </p:txBody>
      </p:sp>
      <p:pic>
        <p:nvPicPr>
          <p:cNvPr id="141" name="Google Shape;14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25" y="2010407"/>
            <a:ext cx="5439950" cy="305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79C0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Build Tools. Maven</a:t>
            </a:r>
            <a:endParaRPr b="1" sz="1050">
              <a:solidFill>
                <a:srgbClr val="79C0F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50825" cy="196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Maven Installation and Configuration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 </a:t>
            </a:r>
            <a:r>
              <a:rPr lang="ru"/>
              <a:t>Windows installation requires setting the PATH variable after unpacking.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 Project-specific configuration is stored in the pom.xml file.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 Global tool configuration is located in the settings.xml file.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 Local repository storage is placed inside the user's .m2 folder.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 Official materials and guidelines reside on the Apache Maven website.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Standard Project Structure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Maven enforces a strict, predictable structural directory layout.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 Application source code is placed inside src/main/java.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 Main application resources belong in src/main/resources.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 Test source files are kept inside src/test/java.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 Test resource files are saved within src/test/resources.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 Compiled binaries and target packages are outputted to the target/ directory.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Build Lifecycle and Terminology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Lifecycle: Overall sequence of steps containing default, clean, and site options.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Phase: An official milestone or step within a build lifecycle.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Goal: A specific unit of work provided by a plugin.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The default build lifecycle consists of 23 phases.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The initial phase executed in the default lifecycle is validate.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Core Commands and Plugins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mvn clean removes previously generated build files from the system.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mvn compile compiles production code via the core Compiler plugin.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mvn test triggers unit test execution using the Surefire plugin.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mvn package packages compiled binaries into a JAR or WAR archive.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mvn install deploys the final package into the local repository.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Plugin definitions can be queried using the mvn help:describe utility.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Dependency Management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Library requirements are stated inside the core configuration file.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Artifact searches are performed using Maven Central or MVNRepository.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Dependency scopes dictate the precise lifecycle phases an artifact covers.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Supported scopes contain compile, test, provided, runtime, and system.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The compile scope acts as the standard default fallback choice.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The test scope limits artifact presence to test tasks alone.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Maven Project Structure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src/ directory for all project source files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target/ folder storing compiled build outputs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pom.xml root file for project configuration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src/main/java/ containing core application logic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src/main/resources/ holding main configuration files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src/test/java/ housing test code files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src/test/resources/ keeping test-specific resource asset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Maven Build Lifecycle and Stage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Sequential execution of defined lifecycle phases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clean stage to delete previous build outputs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compile stage to compile application source code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package stage to bundle code into binaries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verify stage where integration tests run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Maven Dependency Management</a:t>
            </a:r>
            <a:endParaRPr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Automatic dependency resolution from remote repositories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compile set as the default dependency scope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alternative scopes including provided, runtime, and test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&lt;exclusions&gt; tag to remove specific transitive dependencies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79C0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Unit Testing. JUnit</a:t>
            </a:r>
            <a:endParaRPr b="1" sz="1050">
              <a:solidFill>
                <a:srgbClr val="79C0F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025" y="3030700"/>
            <a:ext cx="3796465" cy="17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The Concept of Unit Testing</a:t>
            </a:r>
            <a:endParaRPr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Testing the smallest isolated code units.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Focuses on individual functions or methods.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Detects bugs early in development cycle.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Ensures individual components work as expected.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Forms foundation of the testing pyramid.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Core Characteristics of Unit Tests</a:t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Tests must run completely independently.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Execution happens quickly for rapid feedback.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Results remain repeatable across all environments.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Code isolates entirely from external systems.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Automation allows frequent execution during builds.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Mock Objects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Simulates behavior of real external dependencies.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Isolates unit under test from subsystems.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Replaces slow databases or network calls.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Mimics complex scenarios or unexpected errors.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Utilizes testing frameworks like Mockito effectively.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Integrating Unit Tests and Mocks</a:t>
            </a:r>
            <a:endParaRPr/>
          </a:p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Mocks enable true isolation for units.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Tests focus strictly on local logic.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Simplifies setup for complex test cases.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Speeds up overall test suite execution.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Improves code maintainability and test coverage.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rgbClr val="79C0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DateTime</a:t>
            </a:r>
            <a:endParaRPr b="1" sz="1050">
              <a:solidFill>
                <a:srgbClr val="79C0F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4625" y="2749700"/>
            <a:ext cx="4046236" cy="17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Timeline, Local, and Zone Time Overview</a:t>
            </a:r>
            <a:endParaRPr/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Java 8 Update: Replaces java.util.Date and Calendar classes.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Core Advantage: Core package classes are thread-safe.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Immutability Principle: Objects cannot be modified after creation.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LocalDate Class: Represents a date without any timezone.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ZonedDateTime Class: Combines date, time, and timezone context.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Instant Class: Represents a precise specific timeline point.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ZoneId Utility: Handles geographic regions and time offsets.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Clock Operations and Date Calculations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Clock Class: Accesses instants using a specific timezone.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Instance Creation: Instantiate using the Clock.systemUTC() method.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Chronological Comparison: Check date ordering via compareTo() method.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Time Modification: Alter values using plus and minus methods.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Duration Class: Represents precise time in seconds or nanoseconds.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Static Factory Methods: Instantiate durations using ofHours() or parse().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Formatting and Parsing Dates and Times</a:t>
            </a:r>
            <a:endParaRPr/>
          </a:p>
        </p:txBody>
      </p:sp>
      <p:sp>
        <p:nvSpPr>
          <p:cNvPr id="249" name="Google Shape;249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DateTimeFormatter Utility: Parses and prints date-time objects.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Package Location: Resides within java.time.format package area.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Safety Feature: Formatter class is completely thread-safe.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Pattern Customization: Supports predefined and custom text patterns.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Date Symbols: Uses Y for year and M for month.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Time Symbols: Employs H for hours and m for minutes.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Zone Symbols: Uses z for name and Z for offset.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6575" y="357188"/>
            <a:ext cx="2990850" cy="44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Overview of JDBC Architecture</a:t>
            </a:r>
            <a:endParaRPr/>
          </a:p>
        </p:txBody>
      </p:sp>
      <p:sp>
        <p:nvSpPr>
          <p:cNvPr id="261" name="Google Shape;261;p3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Full Name: Stands for Java Database Connectivity.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Main Purpose: Connects Java applications to external databases.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Core Layers: Comprises JDBC API and JDBC Drivers.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Driver Manager: Registers all applicable database drivers.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Driver Selection: Type 4 pure Java drivers are preferred.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Automatic Discovery: Modern versions register drivers automatically.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Key JDBC Components</a:t>
            </a:r>
            <a:endParaRPr/>
          </a:p>
        </p:txBody>
      </p:sp>
      <p:sp>
        <p:nvSpPr>
          <p:cNvPr id="267" name="Google Shape;267;p3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Connection Interface: Establishes sessions with the database server.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Statement Interface: Executes simple, non-parameterized SQL statements.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PreparedStatement Interface: Handles parameterized SQL queries efficiently.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CallableStatement Interface: Executes precompiled database stored procedures.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ResultSet Interface: Holds data retrieved from selection queries.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SQLException Class: Handles database application errors gracefully.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Queries with Statement Objects</a:t>
            </a:r>
            <a:endParaRPr/>
          </a:p>
        </p:txBody>
      </p:sp>
      <p:sp>
        <p:nvSpPr>
          <p:cNvPr id="273" name="Google Shape;273;p3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Object Creation: Generated using the connection's createStatement method.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Command Container: Acts as a container for SQL commands.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Running SELECTs: Executes data selections using the executeQuery method.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Handling Results: Stores returned data rows inside a ResultSet.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Running Modifiers: Executes modifications using the executeUpdate method.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Resource Cleanup: Needs the close method to prevent leaks.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Working With Transactions Using JDBC</a:t>
            </a:r>
            <a:endParaRPr/>
          </a:p>
        </p:txBody>
      </p:sp>
      <p:sp>
        <p:nvSpPr>
          <p:cNvPr id="279" name="Google Shape;279;p3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Auto-commit mode is active by default.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Disable it using setAutoCommit(false).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This starts a manual transaction boundary.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Call conn.commit() to save changes.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Call conn.rollback() to cancel operations.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Transactions ensure ACID-compliant execution.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Isolation levels control concurrent data access.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Connection Pooling in JDBC</a:t>
            </a:r>
            <a:endParaRPr/>
          </a:p>
        </p:txBody>
      </p:sp>
      <p:sp>
        <p:nvSpPr>
          <p:cNvPr id="285" name="Google Shape;285;p3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Represents a cache of reusable connections.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Active connections are shared among clients.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Eliminates continuous connection creation overhead.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Clients return connections for future reuse.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Enhances application scalability and performance.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Optimizes database system resource management.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Database and ResultSet Metadata</a:t>
            </a:r>
            <a:endParaRPr/>
          </a:p>
        </p:txBody>
      </p:sp>
      <p:sp>
        <p:nvSpPr>
          <p:cNvPr id="291" name="Google Shape;291;p3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Metadata describes database features and properties.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Use DatabaseMetaData for DBMS capability information.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It retrieves product names and versions.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Use metaData.getDatabaseProductVersion() for engine details.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Use ResultSetMetaData for query data structures.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It exposes column names and types.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425" y="1642650"/>
            <a:ext cx="5296650" cy="296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Introduction to Threads</a:t>
            </a:r>
            <a:endParaRPr/>
          </a:p>
        </p:txBody>
      </p:sp>
      <p:sp>
        <p:nvSpPr>
          <p:cNvPr id="303" name="Google Shape;303;p4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Operating systems allocate processor time in parts called quanta.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Multithreading allows applications to perform tasks simultaneously.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Each individual task is called a thread.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Every process possesses its own set of variables.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Multiple threads share the same application data.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Shared data facilitates communication between different threads.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Thread Creation and Execution</a:t>
            </a:r>
            <a:endParaRPr/>
          </a:p>
        </p:txBody>
      </p:sp>
      <p:sp>
        <p:nvSpPr>
          <p:cNvPr id="309" name="Google Shape;309;p4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Threads can be created by extending the Thread class.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Subclasses must override the core run method.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Calling start executes the newly created thread.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Implementing Runnable allows classes to extend other classes.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The Runnable approach separates tasks from control code.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The Callable interface supports asynchronous execution with results.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Callable threads can safely throw exceptions during execution.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Thread Pools and Executors</a:t>
            </a:r>
            <a:endParaRPr/>
          </a:p>
        </p:txBody>
      </p:sp>
      <p:sp>
        <p:nvSpPr>
          <p:cNvPr id="315" name="Google Shape;315;p4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Thread pools manage sets of existing open threads.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Tasks are held in queues when threads are busy.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The Executor interface replaces low-level thread creation idioms.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ExecutorService controls lifecycles with shutdown methods.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The submit method handles Callable and Runnable tasks.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ScheduledExecutorService manages delayed and periodic task execution.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Introduction to Synchronization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9876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Thread Communication Issues: Unsynchronized communication between multiple threads can produce critical errors like thread interference and memory consistency bugs.</a:t>
            </a:r>
            <a:endParaRPr/>
          </a:p>
          <a:p>
            <a:pPr indent="-29876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Core Purpose of Synchronization: Synchronization acts as a process that orders or divides access to shared resources, leading to the sequential execution of threads to prevent data corruption.</a:t>
            </a:r>
            <a:endParaRPr/>
          </a:p>
          <a:p>
            <a:pPr indent="-29876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Memory Ambiguity: To increase execution efficiency, the Java Runtime Environment (JRE) saves local copies of variables inside individual thread stack memories.</a:t>
            </a:r>
            <a:endParaRPr/>
          </a:p>
          <a:p>
            <a:pPr indent="-29876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Visibility Challenges: Changes made to a variable inside one thread's stack memory are not always visible to other threads immediately because JVM write/read timings to the main heap memory are unpredictable.</a:t>
            </a:r>
            <a:endParaRPr/>
          </a:p>
          <a:p>
            <a:pPr indent="-29876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The Volatile Solution: Using the volatile keyword guarantees that a variable is always read from and written directly to the main memory, ensuring immediate visibility across all threads without blocking execution.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Mechanisms for Thread Synchronization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2863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Blocking vs. Non-Blocking: Synchronization is categorized into non-blocking mechanisms (like volatile) and blocking mechanisms that restrict concurrent resource access.</a:t>
            </a:r>
            <a:endParaRPr/>
          </a:p>
          <a:p>
            <a:pPr indent="-2863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Monitor-Based Locking: Every object in Java possesses an implicit monitor that threads use to lock or unlock access; other threads attempting to enter a locked monitor are automatically blocked.</a:t>
            </a:r>
            <a:endParaRPr/>
          </a:p>
          <a:p>
            <a:pPr indent="-2863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Synchronized Methods and Blocks: Synchronized methods lock the entire object instance during execution, while synchronized blocks narrow the scope to critical code sections to allow non-critical code to run in PArallel.</a:t>
            </a:r>
            <a:endParaRPr/>
          </a:p>
          <a:p>
            <a:pPr indent="-2863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Advanced Synchronization APIs: The java.util.concurrent.locks framework provides highly sophisticated, professional-grade control over thread synchronization beyond standard keyword.</a:t>
            </a:r>
            <a:endParaRPr/>
          </a:p>
          <a:p>
            <a:pPr indent="-2863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Enhanced Lock Capabilities: Unlike basic synchronization, the explicit Lock interface supports advanced operations such as interruptible waiting, non-blocking lock attempts via tryLock(), and specific timeouts.</a:t>
            </a:r>
            <a:endParaRPr/>
          </a:p>
          <a:p>
            <a:pPr indent="-2863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ReentrantLock Fairness: The ReentrantLock class allows threads to safely re-acquire their own locks and introduces configurable fairness settings to prevent thread starvation.</a:t>
            </a:r>
            <a:endParaRPr/>
          </a:p>
          <a:p>
            <a:pPr indent="-2863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Optimizing with ReadWriteLocks: ReentrantReadWriteLock separates access into a shared read lock and an exclusive write lock, significantly boosting performance in applications where reading happens far more equently than writing.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Interthread Communication and Deadlocks</a:t>
            </a:r>
            <a:endParaRPr/>
          </a:p>
        </p:txBody>
      </p:sp>
      <p:sp>
        <p:nvSpPr>
          <p:cNvPr id="333" name="Google Shape;333;p4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29257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Object Monitor Methods: Every Java object utilizes its implicit monitor to provide three fundamental communication methods: wait(), notify(), and notifyAll().</a:t>
            </a:r>
            <a:endParaRPr/>
          </a:p>
          <a:p>
            <a:pPr indent="-29257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Thread Suspension via wait(): Calling wait() forces the active thread to instantly release its monitor lock and enter a dormant Wait Set, where it consumes zero CPU cycles.</a:t>
            </a:r>
            <a:endParaRPr/>
          </a:p>
          <a:p>
            <a:pPr indent="-29257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Waking Threads: The notify() method wakes up a single random thread from the Wait Set, while notifyAll() wakes up all waiting threads.</a:t>
            </a:r>
            <a:endParaRPr/>
          </a:p>
          <a:p>
            <a:pPr indent="-29257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Lock Competition: Awoken threads do not resume execution immediately; they transition to a blocked state and must successfully compete to re-acquire the object's monitor lock.</a:t>
            </a:r>
            <a:endParaRPr/>
          </a:p>
          <a:p>
            <a:pPr indent="-29257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Synchronized Context Requirement: You must hold the object's lock to call these communication methods; attempting to invoke them outside a synchronized method or block throws an IllegalMonitorStateException.</a:t>
            </a:r>
            <a:endParaRPr/>
          </a:p>
          <a:p>
            <a:pPr indent="-29257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The Danger of Deadlocks: A deadlock occurs when two or more threads develop a circular dependency on a pair of synchronized objects, causing them to remain locked forever while waiting for each other.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Introduction to High-Level Concurrency APIs</a:t>
            </a:r>
            <a:endParaRPr/>
          </a:p>
        </p:txBody>
      </p:sp>
      <p:sp>
        <p:nvSpPr>
          <p:cNvPr id="339" name="Google Shape;339;p4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Built within the core java.util.concurrent package to simplify multithreading.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Categorized into concurrent collections, blocking queues, synchronizers, executors, locks, and atomics.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Executors standardize running and managing threads through thread pools and task submissions.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Atomics maintain thread-safe programming for complex compound operations without external locking.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Synchronizers define specific thread interactions like data exchange or waiting for states.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Key Concurrent Collections</a:t>
            </a:r>
            <a:endParaRPr/>
          </a:p>
        </p:txBody>
      </p:sp>
      <p:sp>
        <p:nvSpPr>
          <p:cNvPr id="345" name="Google Shape;345;p4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Designed to let multiple threads safely read and write data simultaneously.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ConcurrentHashMap utilizes bucket-level locking and Compare-And-Swap operations instead of global locking.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Reads in ConcurrentHashMap are typically lock-free, relying on volatile memory visibility.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CopyOnWriteArrayList creates a completely fresh copy of the underlying array upon any mutation.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Copy-on-write mechanics are highly optimized for scenarios where reads vastly outnumber writes.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Blocking Queues and Deques</a:t>
            </a:r>
            <a:endParaRPr/>
          </a:p>
        </p:txBody>
      </p:sp>
      <p:sp>
        <p:nvSpPr>
          <p:cNvPr id="351" name="Google Shape;351;p4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Tailored for implementing robust Producer-Consumer architectural patterns.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BlockingQueue forces a retrieving thread to wait if the queue is currently empty.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Storing operations are blocked automatically whenever the queue reaches full capacity.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BlockingDeque permits thread-safe, blocking operations from both ends of the collection.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SynchronousQueue functions with zero data storage capacity, directly pairing insert and delete actions.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Thread Control Methods</a:t>
            </a:r>
            <a:endParaRPr/>
          </a:p>
        </p:txBody>
      </p:sp>
      <p:sp>
        <p:nvSpPr>
          <p:cNvPr id="357" name="Google Shape;357;p5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sleep() suspends execution for a specified period in milliseconds or nanoseconds.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It throws an InterruptedException if the sleeping thread is interrupted by another thread.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join() forces the current running thread to wait until the target thread finishes its task.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yield() allows a thread to temporarily step down and give up its time quantum to other threads.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isAlive() is used as a diagnostic tool to check if a thread is currently operating.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Thread States and Interruption Handling</a:t>
            </a:r>
            <a:endParaRPr/>
          </a:p>
        </p:txBody>
      </p:sp>
      <p:sp>
        <p:nvSpPr>
          <p:cNvPr id="363" name="Google Shape;363;p5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Threads move through discrete lifecycle states: NEW, RUNNABLE, BLOCKED, WAITING, TIMED_WAITING, and TERMINATED.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Interruption acts as a polite signal asking a thread to gracefully stop, rather than forcefully killing it.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void interrupt() sends an interrupt request and flips the thread's internal status flag to true.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static boolean interrupted() checks the current thread's flag and automatically clears it back to false.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boolean isInterrupted() checks the flag of a target thread without modifying its status.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Semaphore and CyclicBarrier Classes</a:t>
            </a:r>
            <a:endParaRPr/>
          </a:p>
        </p:txBody>
      </p:sp>
      <p:sp>
        <p:nvSpPr>
          <p:cNvPr id="369" name="Google Shape;369;p5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Semaphore restricts and manages the total number of parallel threads accessing a shared resource.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Threads call acquire() to request a permit or block until one becomes available.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Threads must call release() inside a finally block to reliably return permits back to the pool.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CyclicBarrier blocks a predefined number of threads until they all meet at a common sync barrier.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Once the exact threshold of threads is met, the barrier opens and releases all waiting threads together.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CountDownLatch and Exchanger Classes</a:t>
            </a:r>
            <a:endParaRPr/>
          </a:p>
        </p:txBody>
      </p:sp>
      <p:sp>
        <p:nvSpPr>
          <p:cNvPr id="375" name="Google Shape;375;p5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CountDownLatch blocks threads until a specific set of external tasks or initialization events finish.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Waiting worker threads call await() to pause execution until the internal countdown hit zero.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Cooperating threads call countDown() to decrement the internal event counter by one.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Exchanger establishes a simple, two-way data swap point directly between a pair of threads.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The exchange() method passes a local object and blocks until the second thread provides its object.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Introduction to the Fork/Join Framework</a:t>
            </a:r>
            <a:endParaRPr/>
          </a:p>
        </p:txBody>
      </p:sp>
      <p:sp>
        <p:nvSpPr>
          <p:cNvPr id="381" name="Google Shape;381;p5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Added to the java.util.concurrent package in Java 7 as an implementation of the ExecutorService interface.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Specifically designed to support parallel programming by automating the division and balancing of large computing tasks.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Simplifies the process of creating, scaling, and managing worker threads across available system processors.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Employs a divide-and-conquer strategy, recursively breaking tasks down until they become small enough to solve directly.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Core Hierarchy and Task Management</a:t>
            </a:r>
            <a:endParaRPr/>
          </a:p>
        </p:txBody>
      </p:sp>
      <p:sp>
        <p:nvSpPr>
          <p:cNvPr id="387" name="Google Shape;387;p5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ForkJoinPool manages worker threads and dynamically optimizes execution using a built-in work-stealing algorithm.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ForkJoinTask&lt;V&gt; serves as the fundamental abstract base class for defining lightweight, splitable computing units.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RecursiveAction extends ForkJoinTask for processing operations that do not return any value, operating similarly to a Runnable.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RecursiveTask&lt;V&gt; extends ForkJoinTask for processing parallel operations that calculate and return a result, similarly to a Callable.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Essential Task Methods</a:t>
            </a:r>
            <a:endParaRPr/>
          </a:p>
        </p:txBody>
      </p:sp>
      <p:sp>
        <p:nvSpPr>
          <p:cNvPr id="393" name="Google Shape;393;p5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fork() submits a split subtask for asynchronous execution, allowing the parent thread to continue working without blocking.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join() forces the calling thread to wait until a subtask finishes, returning its result to be combined into the main operation.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compute() defines the core execution block where developer logic decides whether to process elements directly or split them.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invoke() and invokeAll(...) bundle splitting and execution processes together to recursively implement divide-and-conquer logic.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Stream Parallelism (Implicit Concurrency)</a:t>
            </a:r>
            <a:endParaRPr/>
          </a:p>
        </p:txBody>
      </p:sp>
      <p:sp>
        <p:nvSpPr>
          <p:cNvPr id="399" name="Google Shape;399;p5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Java 8 streams execute sequentially by default unless explicitly triggered to distribute workloads among background cores.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Appending .parallel() or executing .parallelStream() switches the framework into implicit parallelism mode.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Parallel streams automatically break up internal data into individual RecursiveTask operations executed behind the scenes.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Applications share a default global thread pool size, meaning competing parallel flows should have structured pool limits to prevent performance bottlenecks.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8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JSON/XML</a:t>
            </a:r>
            <a:endParaRPr/>
          </a:p>
        </p:txBody>
      </p:sp>
      <p:pic>
        <p:nvPicPr>
          <p:cNvPr id="405" name="Google Shape;40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25" y="1253575"/>
            <a:ext cx="5545599" cy="384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Working with JSON</a:t>
            </a:r>
            <a:endParaRPr/>
          </a:p>
        </p:txBody>
      </p:sp>
      <p:sp>
        <p:nvSpPr>
          <p:cNvPr id="411" name="Google Shape;411;p5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JSON is a lightweight data interchange format used primarily for transmitting data between servers and web applications.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The structure relies on key-value pairs and supports primitives such as Strings, Numbers, Booleans, Arrays, and Null.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Java applications can utilize libraries like Jackson or Gson to automate data serialization and deserialization instead of manually building strings.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Processing lists of objects requires developers to explicitly specify the collection type when reading JSON arrays.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Annotations like @SerializedName in Gson or @JsonProperty in Jackson allow customization when Java field names do not match JSON keys.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XML Fundamentals and Structure</a:t>
            </a:r>
            <a:endParaRPr/>
          </a:p>
        </p:txBody>
      </p:sp>
      <p:sp>
        <p:nvSpPr>
          <p:cNvPr id="417" name="Google Shape;417;p6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Extensible Markup Language (XML) is a text-based format designed to store, represent, and transfer arbitrary data structures.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It serves as the foundation for widespread web technologies including XHTML, RSS, ATOM, and AJAX.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A well-formed XML document must adhere to syntax rules including having a single root tag, proper element nesting, and quoted attribute values.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Core components of an XML file include document declarations, elements or tags, attributes, comments, and unescaped Character Data (CDATA) sections.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Main benefits include separating content from presentation and cross-platform support, though it can become inefficient with very large datasets.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XML Validation and Schemas</a:t>
            </a:r>
            <a:endParaRPr/>
          </a:p>
        </p:txBody>
      </p:sp>
      <p:sp>
        <p:nvSpPr>
          <p:cNvPr id="423" name="Google Shape;423;p6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Validation enforces specific business rules, ensures data integrity, and minimizes structural errors in XML documents.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Document Type Definitions (DTDs) provide a basic validation method but use a different syntax and offer limited control over data types.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XML Schema Definitions (XSD) are highly robust, written in XML syntax, and offer precise control over complex data structures.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XSD building blocks consist of element declarations that define allowed tags and attribute declarations that define metadata.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The standard integration workflow involves defining the XSD structure, creating well-formed XML content, and running validation via a DOM or SAX parser.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Streaming Architectures: SAX vs. StAX</a:t>
            </a:r>
            <a:endParaRPr/>
          </a:p>
        </p:txBody>
      </p:sp>
      <p:sp>
        <p:nvSpPr>
          <p:cNvPr id="429" name="Google Shape;429;p6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Tree-Based Processing: DOM (Document Object Model) loads the entire XML document into memory as a complete object tree structure.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Streaming Processing: SAX and StAX parse XML sequentially, building or reading the data one individual node at a time.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Navigation Capabilities: DOM supports bi-directional navigation and random access, while streaming processors only allow forward-only traversal.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Data Modification: DOM supports full CRUD operations (Read, Write, and Modify), whereas SAX is strictly read-only.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Memory and Speed: Streaming processors maintain a low, constant memory footprint and high speed, unlike DOM which consumes memory proportional to the file size.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Streaming Architectures: SAX vs. StAX</a:t>
            </a:r>
            <a:endParaRPr/>
          </a:p>
        </p:txBody>
      </p:sp>
      <p:sp>
        <p:nvSpPr>
          <p:cNvPr id="435" name="Google Shape;435;p6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Flow Control: The XML parser controls execution in push-streaming (SAX), whereas the application code drives execution in pull-streaming (StAX).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Event vs. Cursor: SAX is entirely event-driven, while StAX relies on a developer-driven cursor or iterator mechanism.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Callback System: Developers write specific handler methods in SAX, and the parser automatically pushes data into those callbacks.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Active Pulling: StAX applications explicitly call methods like .next() to retrieve data only when the application is ready.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Logic Flexibility: StAX offers greater flexibility, allowing the application to skip unneeded XML sections or halt the parsing loop midway.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Java Architecture for XML Binding (JAXB)</a:t>
            </a:r>
            <a:endParaRPr/>
          </a:p>
        </p:txBody>
      </p:sp>
      <p:sp>
        <p:nvSpPr>
          <p:cNvPr id="441" name="Google Shape;441;p6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9876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Object-Binding Concept: JAXB maps XML schemas directly into strongly-typed Java domain classes (POJOs) rather than generic nodes.</a:t>
            </a:r>
            <a:endParaRPr/>
          </a:p>
          <a:p>
            <a:pPr indent="-29876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Unmarshalling Process: The unmarshaller is responsible for converting raw XML data back into accessible Java objects.</a:t>
            </a:r>
            <a:endParaRPr/>
          </a:p>
          <a:p>
            <a:pPr indent="-29876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Marshalling Process: Marshalling allows developers to convert existing Java object trees back into structured XML files.</a:t>
            </a:r>
            <a:endParaRPr/>
          </a:p>
          <a:p>
            <a:pPr indent="-29876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Required Metadata: Configuration requires specific source-code annotations, such as labeling root classes with @XmlRootElement.</a:t>
            </a:r>
            <a:endParaRPr/>
          </a:p>
          <a:p>
            <a:pPr indent="-29876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Element Mapping: The @XmlElement annotation explicitly binds a specific class variable to a corresponding XML element tag.</a:t>
            </a:r>
            <a:endParaRPr/>
          </a:p>
          <a:p>
            <a:pPr indent="-29876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Architectural Limitations: JAXB demands high memory to store the object tree and does not work natively in Android environments.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The latest release of the Java Development Kit is JDK 26 (specifically version 26.0.1, released on April 21, 2026).</a:t>
            </a:r>
            <a:endParaRPr/>
          </a:p>
        </p:txBody>
      </p:sp>
      <p:sp>
        <p:nvSpPr>
          <p:cNvPr id="447" name="Google Shape;447;p6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ru" sz="1200">
                <a:latin typeface="Arial"/>
                <a:ea typeface="Arial"/>
                <a:cs typeface="Arial"/>
                <a:sym typeface="Arial"/>
              </a:rPr>
              <a:t>HTTP/3: Native support added directly to the standard HTTP Client.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ru" sz="1200">
                <a:latin typeface="Arial"/>
                <a:ea typeface="Arial"/>
                <a:cs typeface="Arial"/>
                <a:sym typeface="Arial"/>
              </a:rPr>
              <a:t>AOT Object Caching: Significantly speeds up JVM application startup and warmup.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ru" sz="1200">
                <a:latin typeface="Arial"/>
                <a:ea typeface="Arial"/>
                <a:cs typeface="Arial"/>
                <a:sym typeface="Arial"/>
              </a:rPr>
              <a:t>Faster G1 GC: Reduced synchronization bottlenecks for better performance.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200">
                <a:latin typeface="Arial"/>
                <a:ea typeface="Arial"/>
                <a:cs typeface="Arial"/>
                <a:sym typeface="Arial"/>
              </a:rPr>
              <a:t>Final Fields: Warnings added for changing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final</a:t>
            </a:r>
            <a:r>
              <a:rPr lang="ru" sz="1200">
                <a:latin typeface="Arial"/>
                <a:ea typeface="Arial"/>
                <a:cs typeface="Arial"/>
                <a:sym typeface="Arial"/>
              </a:rPr>
              <a:t> fields via reflection.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ru" sz="1200">
                <a:latin typeface="Arial"/>
                <a:ea typeface="Arial"/>
                <a:cs typeface="Arial"/>
                <a:sym typeface="Arial"/>
              </a:rPr>
              <a:t>Applet API: Completely removed from the platform.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200">
                <a:latin typeface="Arial"/>
                <a:ea typeface="Arial"/>
                <a:cs typeface="Arial"/>
                <a:sym typeface="Arial"/>
              </a:rPr>
              <a:t>Previews: Updates to lazy constants and primitive types in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lang="ru" sz="1200">
                <a:latin typeface="Arial"/>
                <a:ea typeface="Arial"/>
                <a:cs typeface="Arial"/>
                <a:sym typeface="Arial"/>
              </a:rPr>
              <a:t> patterns.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QUIZ</a:t>
            </a:r>
            <a:endParaRPr/>
          </a:p>
        </p:txBody>
      </p:sp>
      <p:sp>
        <p:nvSpPr>
          <p:cNvPr id="453" name="Google Shape;453;p6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recall all that we have learned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Human's ability smell petrichor (smell of wet earth from rain) is greater than a _____'s ability to smell blood in water. </a:t>
            </a:r>
            <a:endParaRPr/>
          </a:p>
        </p:txBody>
      </p:sp>
      <p:sp>
        <p:nvSpPr>
          <p:cNvPr id="459" name="Google Shape;459;p67"/>
          <p:cNvSpPr txBox="1"/>
          <p:nvPr>
            <p:ph idx="1" type="body"/>
          </p:nvPr>
        </p:nvSpPr>
        <p:spPr>
          <a:xfrm>
            <a:off x="1297500" y="16697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/>
              <a:t>DOLPHIN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/>
              <a:t>BARK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/>
              <a:t>SHARK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/>
              <a:t>MAN</a:t>
            </a:r>
            <a:endParaRPr sz="2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2. </a:t>
            </a:r>
            <a:r>
              <a:rPr lang="ru"/>
              <a:t>Your brain alone burns around ____ to _____ calorie</a:t>
            </a:r>
            <a:r>
              <a:rPr lang="ru"/>
              <a:t>s </a:t>
            </a:r>
            <a:r>
              <a:rPr lang="ru"/>
              <a:t>each day</a:t>
            </a:r>
            <a:r>
              <a:rPr lang="ru"/>
              <a:t> </a:t>
            </a:r>
            <a:endParaRPr/>
          </a:p>
        </p:txBody>
      </p:sp>
      <p:sp>
        <p:nvSpPr>
          <p:cNvPr id="465" name="Google Shape;465;p6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400 to 500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500 to 600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600 to 700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700 to 800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3. </a:t>
            </a:r>
            <a:r>
              <a:rPr lang="ru"/>
              <a:t>________'s national animal is the unicorn</a:t>
            </a:r>
            <a:endParaRPr/>
          </a:p>
        </p:txBody>
      </p:sp>
      <p:sp>
        <p:nvSpPr>
          <p:cNvPr id="471" name="Google Shape;471;p6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/>
              <a:t>German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/>
              <a:t>Scotland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/>
              <a:t>Greek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/>
              <a:t>Vietnam</a:t>
            </a:r>
            <a:endParaRPr sz="2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4. </a:t>
            </a:r>
            <a:r>
              <a:rPr lang="ru"/>
              <a:t>Giraffes are __ times more likely to get hit by lightning than people </a:t>
            </a:r>
            <a:endParaRPr/>
          </a:p>
        </p:txBody>
      </p:sp>
      <p:sp>
        <p:nvSpPr>
          <p:cNvPr id="477" name="Google Shape;477;p7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/>
              <a:t>10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/>
              <a:t>20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/>
              <a:t>30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/>
              <a:t>40</a:t>
            </a:r>
            <a:endParaRPr sz="2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5. There were active __________ on the moon when dinosaurs were alive.</a:t>
            </a:r>
            <a:endParaRPr/>
          </a:p>
        </p:txBody>
      </p:sp>
      <p:sp>
        <p:nvSpPr>
          <p:cNvPr id="483" name="Google Shape;483;p7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rivers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volcanoes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mountains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seas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6. </a:t>
            </a:r>
            <a:r>
              <a:rPr lang="ru" u="sng"/>
              <a:t>He</a:t>
            </a:r>
            <a:r>
              <a:rPr lang="ru"/>
              <a:t> designed the logo for the Chupa Chups lollipop brand. </a:t>
            </a:r>
            <a:endParaRPr/>
          </a:p>
        </p:txBody>
      </p:sp>
      <p:sp>
        <p:nvSpPr>
          <p:cNvPr id="489" name="Google Shape;489;p7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Leo DaVinci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Ivan Aivazovsky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Ichigo Kurosaki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Salvador Dalí</a:t>
            </a:r>
            <a:endParaRPr sz="24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7.  Uzbekistan is a combination of the Turkic words “uz” (self)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“bek” (master) and the Persian suffix “-stan” (____???____).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essentially translates as the “Land of the Free”</a:t>
            </a:r>
            <a:endParaRPr/>
          </a:p>
        </p:txBody>
      </p:sp>
      <p:sp>
        <p:nvSpPr>
          <p:cNvPr id="495" name="Google Shape;495;p73"/>
          <p:cNvSpPr txBox="1"/>
          <p:nvPr>
            <p:ph idx="1" type="body"/>
          </p:nvPr>
        </p:nvSpPr>
        <p:spPr>
          <a:xfrm>
            <a:off x="1297500" y="22323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group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land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nation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people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7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8.  _________ is one of only two countries in the world that is "doubly landlocked",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meaning it is surrounded entirely by other landlocked countries. To reach an ocean 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sea, travellers must cross at least two national borders. The only other country with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distinction is Liechtenstein.</a:t>
            </a:r>
            <a:endParaRPr/>
          </a:p>
        </p:txBody>
      </p:sp>
      <p:sp>
        <p:nvSpPr>
          <p:cNvPr id="501" name="Google Shape;501;p74"/>
          <p:cNvSpPr txBox="1"/>
          <p:nvPr>
            <p:ph idx="1" type="body"/>
          </p:nvPr>
        </p:nvSpPr>
        <p:spPr>
          <a:xfrm>
            <a:off x="1357100" y="29471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Kazakhstan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India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USA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Uzbekistan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9. Lemons float and limes sink in _____ because of differences in density and rind structure.</a:t>
            </a:r>
            <a:endParaRPr/>
          </a:p>
        </p:txBody>
      </p:sp>
      <p:sp>
        <p:nvSpPr>
          <p:cNvPr id="507" name="Google Shape;507;p75"/>
          <p:cNvSpPr txBox="1"/>
          <p:nvPr>
            <p:ph idx="1" type="body"/>
          </p:nvPr>
        </p:nvSpPr>
        <p:spPr>
          <a:xfrm>
            <a:off x="1391175" y="17809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oil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soda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water 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AutoNum type="arabicPeriod"/>
            </a:pPr>
            <a:r>
              <a:rPr lang="ru" sz="2400">
                <a:latin typeface="Montserrat"/>
                <a:ea typeface="Montserrat"/>
                <a:cs typeface="Montserrat"/>
                <a:sym typeface="Montserrat"/>
              </a:rPr>
              <a:t>sea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10. If you take all the DNA in your cells and stretch them out it can reach from the 🌍 to the 🌙 over _________ times. </a:t>
            </a:r>
            <a:endParaRPr/>
          </a:p>
        </p:txBody>
      </p:sp>
      <p:sp>
        <p:nvSpPr>
          <p:cNvPr id="513" name="Google Shape;513;p76"/>
          <p:cNvSpPr txBox="1"/>
          <p:nvPr>
            <p:ph idx="1" type="body"/>
          </p:nvPr>
        </p:nvSpPr>
        <p:spPr>
          <a:xfrm>
            <a:off x="1297500" y="173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/>
              <a:t>1 mln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/>
              <a:t>100 K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/>
              <a:t>10 K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ru" sz="2400"/>
              <a:t>1 K</a:t>
            </a:r>
            <a:endParaRPr sz="24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THANK YOU!!</a:t>
            </a:r>
            <a:endParaRPr/>
          </a:p>
        </p:txBody>
      </p:sp>
      <p:sp>
        <p:nvSpPr>
          <p:cNvPr id="519" name="Google Shape;519;p7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400"/>
              <a:t>and good luck!!!!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1121C00E62499F9591BD6C4B692C" ma:contentTypeVersion="11" ma:contentTypeDescription="Create a new document." ma:contentTypeScope="" ma:versionID="9401493cede2d9c23a6faf8b5cd91411">
  <xsd:schema xmlns:xsd="http://www.w3.org/2001/XMLSchema" xmlns:xs="http://www.w3.org/2001/XMLSchema" xmlns:p="http://schemas.microsoft.com/office/2006/metadata/properties" xmlns:ns2="0ea607dc-46d9-47a7-8e18-8de66f8ba529" xmlns:ns3="602492d8-2f55-40ce-9634-4fc5de5ec8ea" targetNamespace="http://schemas.microsoft.com/office/2006/metadata/properties" ma:root="true" ma:fieldsID="407b7a1fa84cddcd0a00d887ab37241c" ns2:_="" ns3:_="">
    <xsd:import namespace="0ea607dc-46d9-47a7-8e18-8de66f8ba529"/>
    <xsd:import namespace="602492d8-2f55-40ce-9634-4fc5de5ec8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607dc-46d9-47a7-8e18-8de66f8ba5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67f65bf-ce47-4f44-8b00-c29a8208e0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2492d8-2f55-40ce-9634-4fc5de5ec8e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8dc173a-4bcf-4113-8e9a-fd44deff4349}" ma:internalName="TaxCatchAll" ma:showField="CatchAllData" ma:web="602492d8-2f55-40ce-9634-4fc5de5ec8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02492d8-2f55-40ce-9634-4fc5de5ec8ea" xsi:nil="true"/>
    <lcf76f155ced4ddcb4097134ff3c332f xmlns="0ea607dc-46d9-47a7-8e18-8de66f8ba52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C074AA1-0958-4615-A402-FF08DD9C263D}"/>
</file>

<file path=customXml/itemProps2.xml><?xml version="1.0" encoding="utf-8"?>
<ds:datastoreItem xmlns:ds="http://schemas.openxmlformats.org/officeDocument/2006/customXml" ds:itemID="{A03DDC03-1A43-47BF-BECC-5B8CDF73465C}"/>
</file>

<file path=customXml/itemProps3.xml><?xml version="1.0" encoding="utf-8"?>
<ds:datastoreItem xmlns:ds="http://schemas.openxmlformats.org/officeDocument/2006/customXml" ds:itemID="{9BDA35E9-5F1C-45AC-89F8-E91A9913F7AD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0x0101000D231121C00E62499F9591BD6C4B692C</vt:lpwstr>
  </property>
</Properties>
</file>